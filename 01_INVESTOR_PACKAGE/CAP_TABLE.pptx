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Cap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· 0-1.gg · lois@0-1.gg</a:t>
            </a:r>
          </a:p>
          <a:p>
            <a:r>
              <a:rPr sz="1000">
                <a:solidFill>
                  <a:srgbClr val="222222"/>
                </a:solidFill>
              </a:rPr>
              <a:t>Date: October 2026 · Pre-Seed / Seed 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Founding Cap Table (Pre-Round)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Shareholder | Shares | % Ownership | Share Class | Notes</a:t>
            </a:r>
          </a:p>
          <a:p>
            <a:r>
              <a:rPr sz="1000">
                <a:solidFill>
                  <a:srgbClr val="222222"/>
                </a:solidFill>
              </a:rPr>
              <a:t>  Lois-Kleinner Alpasan | 9,000,000 | 90.00% | Common A | Founder</a:t>
            </a:r>
          </a:p>
          <a:p>
            <a:r>
              <a:rPr sz="1000">
                <a:solidFill>
                  <a:srgbClr val="222222"/>
                </a:solidFill>
              </a:rPr>
              <a:t>  Anticloud FZ LLE (Reserved) | 1,000,000 | 10.00% | Common A | Company treasury</a:t>
            </a:r>
          </a:p>
          <a:p>
            <a:r>
              <a:rPr sz="1000">
                <a:solidFill>
                  <a:srgbClr val="222222"/>
                </a:solidFill>
              </a:rPr>
              <a:t>  Total | 10,000,000 | 100% |  |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Post-Seed Round (Proposed — $2.5M at $12.5M Pre-Money)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Shareholder | Shares | % Ownership | Share Class | Notes</a:t>
            </a:r>
          </a:p>
          <a:p>
            <a:r>
              <a:rPr sz="1000">
                <a:solidFill>
                  <a:srgbClr val="222222"/>
                </a:solidFill>
              </a:rPr>
              <a:t>  Lois-Kleinner Alpasan | 9,000,000 | 72.00% | Common A | Founder (4yr vest, 1yr cliff)</a:t>
            </a:r>
          </a:p>
          <a:p>
            <a:r>
              <a:rPr sz="1000">
                <a:solidFill>
                  <a:srgbClr val="222222"/>
                </a:solidFill>
              </a:rPr>
              <a:t>  Anticloud FZ LLE (Reserved) | 1,000,000 | 8.00% | Common A | Treasury</a:t>
            </a:r>
          </a:p>
          <a:p>
            <a:r>
              <a:rPr sz="1000">
                <a:solidFill>
                  <a:srgbClr val="222222"/>
                </a:solidFill>
              </a:rPr>
              <a:t>  Seed Investors | 1,250,000 | 10.00% | Preferred A | $2.5M at $12.5M pre</a:t>
            </a:r>
          </a:p>
          <a:p>
            <a:r>
              <a:rPr sz="1000">
                <a:solidFill>
                  <a:srgbClr val="222222"/>
                </a:solidFill>
              </a:rPr>
              <a:t>  ESOP Pool | 1,250,000 | 10.00% | Options | 4yr vest, reserved for team</a:t>
            </a:r>
          </a:p>
          <a:p>
            <a:r>
              <a:rPr sz="1000">
                <a:solidFill>
                  <a:srgbClr val="222222"/>
                </a:solidFill>
              </a:rPr>
              <a:t>  Total Diluted | 12,500,000 | 100% |  |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 Pool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Reserved For | Options | Vest Schedule</a:t>
            </a:r>
          </a:p>
          <a:p>
            <a:r>
              <a:rPr sz="1000">
                <a:solidFill>
                  <a:srgbClr val="222222"/>
                </a:solidFill>
              </a:rPr>
              <a:t>  CTO / Lead Engineer | 400,000 | 4yr / 1yr cliff</a:t>
            </a:r>
          </a:p>
          <a:p>
            <a:r>
              <a:rPr sz="1000">
                <a:solidFill>
                  <a:srgbClr val="222222"/>
                </a:solidFill>
              </a:rPr>
              <a:t>  VP Sales | 250,000 | 4yr / 1yr cliff</a:t>
            </a:r>
          </a:p>
          <a:p>
            <a:r>
              <a:rPr sz="1000">
                <a:solidFill>
                  <a:srgbClr val="222222"/>
                </a:solidFill>
              </a:rPr>
              <a:t>  VP Engineering | 250,000 | 4yr / 1yr cliff</a:t>
            </a:r>
          </a:p>
          <a:p>
            <a:r>
              <a:rPr sz="1000">
                <a:solidFill>
                  <a:srgbClr val="222222"/>
                </a:solidFill>
              </a:rPr>
              <a:t>  Early Engineers (x3) | 150,000 ea | 4yr / 6mo cliff</a:t>
            </a:r>
          </a:p>
          <a:p>
            <a:r>
              <a:rPr sz="1000">
                <a:solidFill>
                  <a:srgbClr val="222222"/>
                </a:solidFill>
              </a:rPr>
              <a:t>  Advisors | 50,000 ea | 2yr monthly</a:t>
            </a:r>
          </a:p>
          <a:p>
            <a:r>
              <a:rPr sz="1000">
                <a:solidFill>
                  <a:srgbClr val="222222"/>
                </a:solidFill>
              </a:rPr>
              <a:t>  Remaining pool | 150,000 | Unallocated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Preferred A (Seed): 1x non-participating liquidation preference.</a:t>
            </a:r>
          </a:p>
          <a:p>
            <a:r>
              <a:rPr sz="1000">
                <a:solidFill>
                  <a:srgbClr val="222222"/>
                </a:solidFill>
              </a:rPr>
              <a:t>- In a liquidation or acquisition, Preferred A investors receive their invested capital first ($2.5M), then convert to common for upside participation if conver</a:t>
            </a:r>
          </a:p>
          <a:p>
            <a:r>
              <a:rPr sz="1000">
                <a:solidFill>
                  <a:srgbClr val="222222"/>
                </a:solidFill>
              </a:rPr>
              <a:t>- Anti-dilution: Broad-based weighted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Comparable | Pre-Money at Seed | Notes</a:t>
            </a:r>
          </a:p>
          <a:p>
            <a:r>
              <a:rPr sz="1000">
                <a:solidFill>
                  <a:srgbClr val="222222"/>
                </a:solidFill>
              </a:rPr>
              <a:t>  Mistral AI (2023 seed) | ~$200M | LLM infrastructure</a:t>
            </a:r>
          </a:p>
          <a:p>
            <a:r>
              <a:rPr sz="1000">
                <a:solidFill>
                  <a:srgbClr val="222222"/>
                </a:solidFill>
              </a:rPr>
              <a:t>  Together AI (2023) | ~$100M | GPU cloud for AI</a:t>
            </a:r>
          </a:p>
          <a:p>
            <a:r>
              <a:rPr sz="1000">
                <a:solidFill>
                  <a:srgbClr val="222222"/>
                </a:solidFill>
              </a:rPr>
              <a:t>  PAX (proposed) | $12.5M | Conservative; hardware-sovereign AI</a:t>
            </a:r>
          </a:p>
          <a:p>
            <a:r>
              <a:rPr sz="1000">
                <a:solidFill>
                  <a:srgbClr val="222222"/>
                </a:solidFill>
              </a:rPr>
              <a:t>Justification: $12.5M pre-money is conservative vs. category comparables. Benchmarks exceed GPT-4 on TruthfulQA at 750x lower cost. Single founder with 50 publi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Board seats: 1 Founder + 1 Lead Investor + 1 Independent (to be mutually agreed)</a:t>
            </a:r>
          </a:p>
          <a:p>
            <a:r>
              <a:rPr sz="1000">
                <a:solidFill>
                  <a:srgbClr val="222222"/>
                </a:solidFill>
              </a:rPr>
              <a:t>- Protective provisions: Standard Preferred A (anti-dilution, pay-to-play, pro-rata rights)</a:t>
            </a:r>
          </a:p>
          <a:p>
            <a:r>
              <a:rPr sz="1000">
                <a:solidFill>
                  <a:srgbClr val="222222"/>
                </a:solidFill>
              </a:rPr>
              <a:t>- Information rights: Monthly financials, quarterly board deck, annual audit</a:t>
            </a:r>
          </a:p>
          <a:p>
            <a:r>
              <a:rPr sz="1000">
                <a:solidFill>
                  <a:srgbClr val="222222"/>
                </a:solidFill>
              </a:rPr>
              <a:t>Anticloud FZ LLE · 0-1.gg · lois@0-1.gg · October 2026</a:t>
            </a:r>
          </a:p>
          <a:p>
            <a:r>
              <a:rPr sz="1000">
                <a:solidFill>
                  <a:srgbClr val="222222"/>
                </a:solidFill>
              </a:rPr>
              <a:t>Patent Pending (USPTO) · Harvard Dataverse DOI 10.7910/DVN/YMJKOG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